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rimo Bold" charset="1" panose="020B0704020202020204"/>
      <p:regular r:id="rId31"/>
    </p:embeddedFont>
    <p:embeddedFont>
      <p:font typeface="Open Sans Bold" charset="1" panose="020B0806030504020204"/>
      <p:regular r:id="rId32"/>
    </p:embeddedFont>
    <p:embeddedFont>
      <p:font typeface="Arial" charset="1" panose="020B0604020202020204"/>
      <p:regular r:id="rId33"/>
    </p:embeddedFont>
    <p:embeddedFont>
      <p:font typeface="Arimo" charset="1" panose="020B0604020202020204"/>
      <p:regular r:id="rId34"/>
    </p:embeddedFont>
    <p:embeddedFont>
      <p:font typeface="Open Sans" charset="1" panose="020B0606030504020204"/>
      <p:regular r:id="rId35"/>
    </p:embeddedFont>
    <p:embeddedFont>
      <p:font typeface="Arial Bold" charset="1" panose="020B07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3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63756"/>
            <a:ext cx="10464817" cy="6594544"/>
            <a:chOff x="0" y="0"/>
            <a:chExt cx="13953089" cy="8792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53110" cy="8792718"/>
            </a:xfrm>
            <a:custGeom>
              <a:avLst/>
              <a:gdLst/>
              <a:ahLst/>
              <a:cxnLst/>
              <a:rect r="r" b="b" t="t" l="l"/>
              <a:pathLst>
                <a:path h="8792718" w="13953110">
                  <a:moveTo>
                    <a:pt x="0" y="0"/>
                  </a:moveTo>
                  <a:lnTo>
                    <a:pt x="13953110" y="0"/>
                  </a:lnTo>
                  <a:lnTo>
                    <a:pt x="13953110" y="8792718"/>
                  </a:lnTo>
                  <a:lnTo>
                    <a:pt x="0" y="8792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144661"/>
            <a:ext cx="4348518" cy="2684851"/>
          </a:xfrm>
          <a:custGeom>
            <a:avLst/>
            <a:gdLst/>
            <a:ahLst/>
            <a:cxnLst/>
            <a:rect r="r" b="b" t="t" l="l"/>
            <a:pathLst>
              <a:path h="2684851" w="4348518">
                <a:moveTo>
                  <a:pt x="0" y="0"/>
                </a:moveTo>
                <a:lnTo>
                  <a:pt x="4348518" y="0"/>
                </a:lnTo>
                <a:lnTo>
                  <a:pt x="4348518" y="2684851"/>
                </a:lnTo>
                <a:lnTo>
                  <a:pt x="0" y="26848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" y="6573449"/>
            <a:ext cx="2436695" cy="2684851"/>
          </a:xfrm>
          <a:custGeom>
            <a:avLst/>
            <a:gdLst/>
            <a:ahLst/>
            <a:cxnLst/>
            <a:rect r="r" b="b" t="t" l="l"/>
            <a:pathLst>
              <a:path h="2684851" w="2436695">
                <a:moveTo>
                  <a:pt x="0" y="0"/>
                </a:moveTo>
                <a:lnTo>
                  <a:pt x="2436695" y="0"/>
                </a:lnTo>
                <a:lnTo>
                  <a:pt x="2436695" y="2684851"/>
                </a:lnTo>
                <a:lnTo>
                  <a:pt x="0" y="2684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" y="9506849"/>
            <a:ext cx="2436696" cy="780151"/>
          </a:xfrm>
          <a:custGeom>
            <a:avLst/>
            <a:gdLst/>
            <a:ahLst/>
            <a:cxnLst/>
            <a:rect r="r" b="b" t="t" l="l"/>
            <a:pathLst>
              <a:path h="780151" w="2436696">
                <a:moveTo>
                  <a:pt x="0" y="0"/>
                </a:moveTo>
                <a:lnTo>
                  <a:pt x="2436696" y="0"/>
                </a:lnTo>
                <a:lnTo>
                  <a:pt x="2436696" y="780151"/>
                </a:lnTo>
                <a:lnTo>
                  <a:pt x="0" y="780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700" y="3872610"/>
            <a:ext cx="2432007" cy="1320421"/>
          </a:xfrm>
          <a:custGeom>
            <a:avLst/>
            <a:gdLst/>
            <a:ahLst/>
            <a:cxnLst/>
            <a:rect r="r" b="b" t="t" l="l"/>
            <a:pathLst>
              <a:path h="1320421" w="2432007">
                <a:moveTo>
                  <a:pt x="0" y="0"/>
                </a:moveTo>
                <a:lnTo>
                  <a:pt x="2432007" y="0"/>
                </a:lnTo>
                <a:lnTo>
                  <a:pt x="2432007" y="1320421"/>
                </a:lnTo>
                <a:lnTo>
                  <a:pt x="0" y="13204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2519095"/>
            <a:ext cx="2748318" cy="1324734"/>
          </a:xfrm>
          <a:custGeom>
            <a:avLst/>
            <a:gdLst/>
            <a:ahLst/>
            <a:cxnLst/>
            <a:rect r="r" b="b" t="t" l="l"/>
            <a:pathLst>
              <a:path h="1324734" w="2748318">
                <a:moveTo>
                  <a:pt x="0" y="0"/>
                </a:moveTo>
                <a:lnTo>
                  <a:pt x="2748318" y="0"/>
                </a:lnTo>
                <a:lnTo>
                  <a:pt x="2748318" y="1324734"/>
                </a:lnTo>
                <a:lnTo>
                  <a:pt x="0" y="1324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04730" y="603598"/>
            <a:ext cx="2231612" cy="594167"/>
          </a:xfrm>
          <a:custGeom>
            <a:avLst/>
            <a:gdLst/>
            <a:ahLst/>
            <a:cxnLst/>
            <a:rect r="r" b="b" t="t" l="l"/>
            <a:pathLst>
              <a:path h="594167" w="2231612">
                <a:moveTo>
                  <a:pt x="0" y="0"/>
                </a:moveTo>
                <a:lnTo>
                  <a:pt x="2231613" y="0"/>
                </a:lnTo>
                <a:lnTo>
                  <a:pt x="2231613" y="594167"/>
                </a:lnTo>
                <a:lnTo>
                  <a:pt x="0" y="5941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32266" y="3710818"/>
            <a:ext cx="14508505" cy="3086100"/>
            <a:chOff x="0" y="0"/>
            <a:chExt cx="382117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21170" cy="812800"/>
            </a:xfrm>
            <a:custGeom>
              <a:avLst/>
              <a:gdLst/>
              <a:ahLst/>
              <a:cxnLst/>
              <a:rect r="r" b="b" t="t" l="l"/>
              <a:pathLst>
                <a:path h="812800" w="3821170">
                  <a:moveTo>
                    <a:pt x="0" y="0"/>
                  </a:moveTo>
                  <a:lnTo>
                    <a:pt x="3821170" y="0"/>
                  </a:lnTo>
                  <a:lnTo>
                    <a:pt x="382117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CDD7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82117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50158" y="1130761"/>
            <a:ext cx="7703986" cy="157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6"/>
              </a:lnSpc>
              <a:spcBef>
                <a:spcPct val="0"/>
              </a:spcBef>
            </a:pPr>
            <a:r>
              <a:rPr lang="en-US" b="true" sz="444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Modelagem de Sistemas</a:t>
            </a:r>
          </a:p>
          <a:p>
            <a:pPr algn="ctr">
              <a:lnSpc>
                <a:spcPts val="622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57435" y="4120393"/>
            <a:ext cx="884837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UML: Diag</a:t>
            </a:r>
            <a:r>
              <a:rPr lang="en-US" b="true" sz="6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rama de Seqüência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40771" y="8955450"/>
            <a:ext cx="228600" cy="543861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5592" y="4309595"/>
            <a:ext cx="1673708" cy="5021123"/>
          </a:xfrm>
          <a:custGeom>
            <a:avLst/>
            <a:gdLst/>
            <a:ahLst/>
            <a:cxnLst/>
            <a:rect r="r" b="b" t="t" l="l"/>
            <a:pathLst>
              <a:path h="5021123" w="1673708">
                <a:moveTo>
                  <a:pt x="0" y="0"/>
                </a:moveTo>
                <a:lnTo>
                  <a:pt x="1673708" y="0"/>
                </a:lnTo>
                <a:lnTo>
                  <a:pt x="1673708" y="5021123"/>
                </a:lnTo>
                <a:lnTo>
                  <a:pt x="0" y="5021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4681229" y="5898677"/>
            <a:ext cx="1542068" cy="921479"/>
            <a:chOff x="0" y="0"/>
            <a:chExt cx="874776" cy="5227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4776" cy="522732"/>
            </a:xfrm>
            <a:custGeom>
              <a:avLst/>
              <a:gdLst/>
              <a:ahLst/>
              <a:cxnLst/>
              <a:rect r="r" b="b" t="t" l="l"/>
              <a:pathLst>
                <a:path h="522732" w="874776">
                  <a:moveTo>
                    <a:pt x="9144" y="0"/>
                  </a:moveTo>
                  <a:lnTo>
                    <a:pt x="824484" y="483108"/>
                  </a:lnTo>
                  <a:lnTo>
                    <a:pt x="815340" y="498348"/>
                  </a:lnTo>
                  <a:lnTo>
                    <a:pt x="0" y="16764"/>
                  </a:lnTo>
                  <a:lnTo>
                    <a:pt x="9144" y="0"/>
                  </a:lnTo>
                  <a:close/>
                  <a:moveTo>
                    <a:pt x="827532" y="451104"/>
                  </a:moveTo>
                  <a:lnTo>
                    <a:pt x="874776" y="522732"/>
                  </a:lnTo>
                  <a:lnTo>
                    <a:pt x="789432" y="516636"/>
                  </a:lnTo>
                  <a:lnTo>
                    <a:pt x="827532" y="451104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799084" y="6077975"/>
            <a:ext cx="2192526" cy="2893020"/>
          </a:xfrm>
          <a:custGeom>
            <a:avLst/>
            <a:gdLst/>
            <a:ahLst/>
            <a:cxnLst/>
            <a:rect r="r" b="b" t="t" l="l"/>
            <a:pathLst>
              <a:path h="2893020" w="2192526">
                <a:moveTo>
                  <a:pt x="0" y="0"/>
                </a:moveTo>
                <a:lnTo>
                  <a:pt x="2192526" y="0"/>
                </a:lnTo>
                <a:lnTo>
                  <a:pt x="2192526" y="2893020"/>
                </a:lnTo>
                <a:lnTo>
                  <a:pt x="0" y="289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9102" y="2999926"/>
            <a:ext cx="16041174" cy="145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7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•Atores neste diagrama são instâncias dos atores declarados no Diagrama de Casos de Uso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320" y="5006553"/>
            <a:ext cx="10475145" cy="396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2"/>
              </a:lnSpc>
            </a:pPr>
            <a:r>
              <a:rPr lang="en-US" sz="47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•A partir do ator sai uma linha de vida</a:t>
            </a:r>
          </a:p>
          <a:p>
            <a:pPr algn="l">
              <a:lnSpc>
                <a:spcPts val="5674"/>
              </a:lnSpc>
            </a:pPr>
          </a:p>
          <a:p>
            <a:pPr algn="l">
              <a:lnSpc>
                <a:spcPts val="5674"/>
              </a:lnSpc>
            </a:pPr>
            <a:r>
              <a:rPr lang="en-US" sz="47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•Uma lifeline pode existir desde o começo ou ser criada a partir de um determinado ponto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33510" y="2551140"/>
            <a:ext cx="2677830" cy="152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1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Linha vertical tracejada que desce a partir do ator ou objeto.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3411" y="2811139"/>
            <a:ext cx="16481145" cy="256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42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•É um diagrama comportamental que procura representar os eventos, em ordem, e suas mensagens Baseia-se no Diagrama de Casos de Uso, pois normalmente há um Diagrama de Seqüência para </a:t>
            </a:r>
            <a:r>
              <a:rPr lang="en-US" b="true" sz="424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CADA </a:t>
            </a:r>
            <a:r>
              <a:rPr lang="en-US" sz="42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de Uso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6742" y="6016989"/>
            <a:ext cx="15650768" cy="129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1"/>
              </a:lnSpc>
            </a:pPr>
            <a:r>
              <a:rPr lang="en-US" sz="42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•Cada Caso de Uso é um processo disparado por um ator e possui uma seqüência de eventos e mensagens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6742" y="8009512"/>
            <a:ext cx="15085006" cy="83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4"/>
              </a:lnSpc>
            </a:pPr>
            <a:r>
              <a:rPr lang="en-US" sz="42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•Também depende do Diagrama de Classes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94500" y="0"/>
            <a:ext cx="12771736" cy="10287000"/>
          </a:xfrm>
          <a:custGeom>
            <a:avLst/>
            <a:gdLst/>
            <a:ahLst/>
            <a:cxnLst/>
            <a:rect r="r" b="b" t="t" l="l"/>
            <a:pathLst>
              <a:path h="10287000" w="12771736">
                <a:moveTo>
                  <a:pt x="0" y="0"/>
                </a:moveTo>
                <a:lnTo>
                  <a:pt x="12771736" y="0"/>
                </a:lnTo>
                <a:lnTo>
                  <a:pt x="12771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8464" y="2070437"/>
            <a:ext cx="618078" cy="61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7"/>
              </a:lnSpc>
            </a:pPr>
            <a:r>
              <a:rPr lang="en-US" sz="57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X E M P L 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062544" y="0"/>
            <a:ext cx="2445680" cy="1485049"/>
            <a:chOff x="0" y="0"/>
            <a:chExt cx="644130" cy="391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4130" cy="391124"/>
            </a:xfrm>
            <a:custGeom>
              <a:avLst/>
              <a:gdLst/>
              <a:ahLst/>
              <a:cxnLst/>
              <a:rect r="r" b="b" t="t" l="l"/>
              <a:pathLst>
                <a:path h="391124" w="644130">
                  <a:moveTo>
                    <a:pt x="53814" y="0"/>
                  </a:moveTo>
                  <a:lnTo>
                    <a:pt x="590315" y="0"/>
                  </a:lnTo>
                  <a:cubicBezTo>
                    <a:pt x="620036" y="0"/>
                    <a:pt x="644130" y="24093"/>
                    <a:pt x="644130" y="53814"/>
                  </a:cubicBezTo>
                  <a:lnTo>
                    <a:pt x="644130" y="337310"/>
                  </a:lnTo>
                  <a:cubicBezTo>
                    <a:pt x="644130" y="367031"/>
                    <a:pt x="620036" y="391124"/>
                    <a:pt x="590315" y="391124"/>
                  </a:cubicBezTo>
                  <a:lnTo>
                    <a:pt x="53814" y="391124"/>
                  </a:lnTo>
                  <a:cubicBezTo>
                    <a:pt x="24093" y="391124"/>
                    <a:pt x="0" y="367031"/>
                    <a:pt x="0" y="337310"/>
                  </a:cubicBezTo>
                  <a:lnTo>
                    <a:pt x="0" y="53814"/>
                  </a:lnTo>
                  <a:cubicBezTo>
                    <a:pt x="0" y="24093"/>
                    <a:pt x="24093" y="0"/>
                    <a:pt x="538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44130" cy="438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95785" y="5802195"/>
            <a:ext cx="2595111" cy="1335618"/>
            <a:chOff x="0" y="0"/>
            <a:chExt cx="683486" cy="351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3486" cy="351768"/>
            </a:xfrm>
            <a:custGeom>
              <a:avLst/>
              <a:gdLst/>
              <a:ahLst/>
              <a:cxnLst/>
              <a:rect r="r" b="b" t="t" l="l"/>
              <a:pathLst>
                <a:path h="351768" w="683486">
                  <a:moveTo>
                    <a:pt x="50716" y="0"/>
                  </a:moveTo>
                  <a:lnTo>
                    <a:pt x="632770" y="0"/>
                  </a:lnTo>
                  <a:cubicBezTo>
                    <a:pt x="660780" y="0"/>
                    <a:pt x="683486" y="22706"/>
                    <a:pt x="683486" y="50716"/>
                  </a:cubicBezTo>
                  <a:lnTo>
                    <a:pt x="683486" y="301052"/>
                  </a:lnTo>
                  <a:cubicBezTo>
                    <a:pt x="683486" y="329062"/>
                    <a:pt x="660780" y="351768"/>
                    <a:pt x="632770" y="351768"/>
                  </a:cubicBezTo>
                  <a:lnTo>
                    <a:pt x="50716" y="351768"/>
                  </a:lnTo>
                  <a:cubicBezTo>
                    <a:pt x="37265" y="351768"/>
                    <a:pt x="24365" y="346424"/>
                    <a:pt x="14854" y="336913"/>
                  </a:cubicBezTo>
                  <a:cubicBezTo>
                    <a:pt x="5343" y="327402"/>
                    <a:pt x="0" y="314503"/>
                    <a:pt x="0" y="301052"/>
                  </a:cubicBezTo>
                  <a:lnTo>
                    <a:pt x="0" y="50716"/>
                  </a:lnTo>
                  <a:cubicBezTo>
                    <a:pt x="0" y="22706"/>
                    <a:pt x="22706" y="0"/>
                    <a:pt x="507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83486" cy="399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66766" y="2331108"/>
            <a:ext cx="12547013" cy="74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7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•Linha de Vida: representa o tempo que um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4821" y="3067350"/>
            <a:ext cx="10672681" cy="74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7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(lifeline) existe em um processo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766" y="3722473"/>
            <a:ext cx="12827029" cy="97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•Essa linha pode ser interrompida por um ‘X’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4821" y="4906995"/>
            <a:ext cx="7783803" cy="52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o objeto é destruído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6766" y="5123982"/>
            <a:ext cx="11610264" cy="119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32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•Objetos podem ser criados somente no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4821" y="6622828"/>
            <a:ext cx="11253213" cy="116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momento do seu uso (não aparecem no </a:t>
            </a:r>
          </a:p>
          <a:p>
            <a:pPr algn="l">
              <a:lnSpc>
                <a:spcPts val="9174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topo do diagrama, neste caso)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766" y="8023719"/>
            <a:ext cx="12512861" cy="64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•Objetos devem ser destruídos quando não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4821" y="8570065"/>
            <a:ext cx="7090042" cy="8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6"/>
              </a:lnSpc>
            </a:pPr>
            <a:r>
              <a:rPr lang="en-US" sz="4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estão mais sendo usados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80902" y="4658959"/>
            <a:ext cx="2271955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 retângulo (caixa) com o nome (ex: :Pedido) no topo da linha de vida.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92219" y="2721864"/>
            <a:ext cx="14850125" cy="6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sz="4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•Mensagens: demonstram a ocorrência de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1016" y="3366692"/>
            <a:ext cx="13786991" cy="130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sz="4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eventos, que pode ser uma chamada de método, por exemplo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2219" y="4586020"/>
            <a:ext cx="15695820" cy="85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4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•Pode ser também a comunicação entre dois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1016" y="5621372"/>
            <a:ext cx="12905554" cy="46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4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atores, neste caso não chama método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219" y="5814885"/>
            <a:ext cx="9922922" cy="105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5"/>
              </a:lnSpc>
            </a:pPr>
            <a:r>
              <a:rPr lang="en-US" sz="4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•Mensagens podem ocorrer: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0668" y="6859752"/>
            <a:ext cx="5155922" cy="200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3"/>
              </a:lnSpc>
            </a:pPr>
            <a:r>
              <a:rPr lang="en-US" sz="36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–Ator x Ator –Ator x Objeto –Objeto x Objeto –Objeto x Ator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064959" y="4152929"/>
            <a:ext cx="7608105" cy="5105371"/>
          </a:xfrm>
          <a:custGeom>
            <a:avLst/>
            <a:gdLst/>
            <a:ahLst/>
            <a:cxnLst/>
            <a:rect r="r" b="b" t="t" l="l"/>
            <a:pathLst>
              <a:path h="5105371" w="7608105">
                <a:moveTo>
                  <a:pt x="0" y="0"/>
                </a:moveTo>
                <a:lnTo>
                  <a:pt x="7608104" y="0"/>
                </a:lnTo>
                <a:lnTo>
                  <a:pt x="7608104" y="5105371"/>
                </a:lnTo>
                <a:lnTo>
                  <a:pt x="0" y="5105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49479" y="2446805"/>
            <a:ext cx="10124402" cy="94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9"/>
              </a:lnSpc>
            </a:pPr>
            <a:r>
              <a:rPr lang="en-US" sz="538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•Disparo de método entre Atores: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744" y="5133975"/>
            <a:ext cx="4459871" cy="253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  <a:spcBef>
                <a:spcPct val="0"/>
              </a:spcBef>
            </a:pPr>
            <a:r>
              <a:rPr lang="en-US" sz="33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Comunicação de alto nível ou física (fala, clique), sem ser necessariamente código.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73063" y="4548481"/>
            <a:ext cx="4613978" cy="359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7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 sólida conectando a linha de um boneco à linha de outro boneco.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571645" y="4025267"/>
            <a:ext cx="9315664" cy="5534657"/>
          </a:xfrm>
          <a:custGeom>
            <a:avLst/>
            <a:gdLst/>
            <a:ahLst/>
            <a:cxnLst/>
            <a:rect r="r" b="b" t="t" l="l"/>
            <a:pathLst>
              <a:path h="5534657" w="9315664">
                <a:moveTo>
                  <a:pt x="0" y="0"/>
                </a:moveTo>
                <a:lnTo>
                  <a:pt x="9315664" y="0"/>
                </a:lnTo>
                <a:lnTo>
                  <a:pt x="9315664" y="5534658"/>
                </a:lnTo>
                <a:lnTo>
                  <a:pt x="0" y="5534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61300" y="2617768"/>
            <a:ext cx="9789208" cy="8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</a:pPr>
            <a:r>
              <a:rPr lang="en-US" sz="50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•Disparo de método entre objetos: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2187" y="4967382"/>
            <a:ext cx="3005656" cy="310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4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Chamada de um método (função) de uma classe para outra.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87309" y="5028523"/>
            <a:ext cx="3660938" cy="318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 sólida (cheia) saindo de uma linha de vida para outra, com o nome do método metodo().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67945" y="3667005"/>
            <a:ext cx="8356444" cy="5591295"/>
          </a:xfrm>
          <a:custGeom>
            <a:avLst/>
            <a:gdLst/>
            <a:ahLst/>
            <a:cxnLst/>
            <a:rect r="r" b="b" t="t" l="l"/>
            <a:pathLst>
              <a:path h="5591295" w="8356444">
                <a:moveTo>
                  <a:pt x="0" y="0"/>
                </a:moveTo>
                <a:lnTo>
                  <a:pt x="8356445" y="0"/>
                </a:lnTo>
                <a:lnTo>
                  <a:pt x="8356445" y="5591295"/>
                </a:lnTo>
                <a:lnTo>
                  <a:pt x="0" y="5591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63833" y="2479699"/>
            <a:ext cx="5496441" cy="82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4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•Criação de objeto: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2469" y="5067300"/>
            <a:ext cx="3291101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Instanciar (criar) um objeto que não existia no início do cenário.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42174" y="4951273"/>
            <a:ext cx="4026344" cy="2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seta aponta diretamente para a caixa do objeto (que está desenhada mais abaixo), e não para a linha.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084725" y="4335883"/>
            <a:ext cx="9898987" cy="5224042"/>
          </a:xfrm>
          <a:custGeom>
            <a:avLst/>
            <a:gdLst/>
            <a:ahLst/>
            <a:cxnLst/>
            <a:rect r="r" b="b" t="t" l="l"/>
            <a:pathLst>
              <a:path h="5224042" w="9898987">
                <a:moveTo>
                  <a:pt x="0" y="0"/>
                </a:moveTo>
                <a:lnTo>
                  <a:pt x="9898987" y="0"/>
                </a:lnTo>
                <a:lnTo>
                  <a:pt x="9898987" y="5224042"/>
                </a:lnTo>
                <a:lnTo>
                  <a:pt x="0" y="5224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42202" y="2658907"/>
            <a:ext cx="7109257" cy="92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53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•Destruição de objeto: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627" y="5067300"/>
            <a:ext cx="2905423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Remover o objeto da memória quando ele não é mais necessário.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49568" y="4678959"/>
            <a:ext cx="3502054" cy="3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seta com comando de exclusão seguida de um X grande encerrando a linha de vida.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878835" y="3563891"/>
            <a:ext cx="9316522" cy="5721187"/>
          </a:xfrm>
          <a:custGeom>
            <a:avLst/>
            <a:gdLst/>
            <a:ahLst/>
            <a:cxnLst/>
            <a:rect r="r" b="b" t="t" l="l"/>
            <a:pathLst>
              <a:path h="5721187" w="9316522">
                <a:moveTo>
                  <a:pt x="0" y="0"/>
                </a:moveTo>
                <a:lnTo>
                  <a:pt x="9316522" y="0"/>
                </a:lnTo>
                <a:lnTo>
                  <a:pt x="9316522" y="5721188"/>
                </a:lnTo>
                <a:lnTo>
                  <a:pt x="0" y="5721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8574" y="2440294"/>
            <a:ext cx="7253934" cy="90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8"/>
              </a:lnSpc>
            </a:pPr>
            <a:r>
              <a:rPr lang="en-US" sz="51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•Mensagem de retorno: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833" y="5486289"/>
            <a:ext cx="3326272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resposta devolvida após o processamento de um método.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02122" y="5362255"/>
            <a:ext cx="3825792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seta tracejada (pontilhada) apontando de volta para quem chamou.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18380" y="3984687"/>
            <a:ext cx="5422024" cy="5424425"/>
          </a:xfrm>
          <a:custGeom>
            <a:avLst/>
            <a:gdLst/>
            <a:ahLst/>
            <a:cxnLst/>
            <a:rect r="r" b="b" t="t" l="l"/>
            <a:pathLst>
              <a:path h="5424425" w="5422024">
                <a:moveTo>
                  <a:pt x="0" y="0"/>
                </a:moveTo>
                <a:lnTo>
                  <a:pt x="5422024" y="0"/>
                </a:lnTo>
                <a:lnTo>
                  <a:pt x="5422024" y="5424425"/>
                </a:lnTo>
                <a:lnTo>
                  <a:pt x="0" y="5424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37658" y="2617089"/>
            <a:ext cx="5087905" cy="87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7"/>
              </a:lnSpc>
            </a:pPr>
            <a:r>
              <a:rPr lang="en-US" sz="50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50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Autochamadas: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4246" y="5067300"/>
            <a:ext cx="3357725" cy="153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objeto executa um método interno dele mesmo.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57110" y="5067300"/>
            <a:ext cx="3683929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seta que sai da linha de vida e faz uma curva voltando para a mesma linha.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525672" y="3673202"/>
            <a:ext cx="7315970" cy="4520539"/>
          </a:xfrm>
          <a:custGeom>
            <a:avLst/>
            <a:gdLst/>
            <a:ahLst/>
            <a:cxnLst/>
            <a:rect r="r" b="b" t="t" l="l"/>
            <a:pathLst>
              <a:path h="4520539" w="7315970">
                <a:moveTo>
                  <a:pt x="0" y="0"/>
                </a:moveTo>
                <a:lnTo>
                  <a:pt x="7315970" y="0"/>
                </a:lnTo>
                <a:lnTo>
                  <a:pt x="7315970" y="4520539"/>
                </a:lnTo>
                <a:lnTo>
                  <a:pt x="0" y="4520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03118" y="2461203"/>
            <a:ext cx="7380604" cy="96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7"/>
              </a:lnSpc>
            </a:pPr>
            <a:r>
              <a:rPr lang="en-US" sz="55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•Restrições de tempo: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27648" y="8894356"/>
            <a:ext cx="10570369" cy="514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32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•Nesse caso o pedido só será cancelado após 30 minutos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594" y="5112011"/>
            <a:ext cx="3421077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ação que leva tempo para acontecer ou tem prazo definido.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1407" y="5183060"/>
            <a:ext cx="3838331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seta desenhada na diagonal (inclinada), indicando a passagem de tempo.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828038" y="3265552"/>
            <a:ext cx="6711298" cy="5058854"/>
          </a:xfrm>
          <a:custGeom>
            <a:avLst/>
            <a:gdLst/>
            <a:ahLst/>
            <a:cxnLst/>
            <a:rect r="r" b="b" t="t" l="l"/>
            <a:pathLst>
              <a:path h="5058854" w="6711298">
                <a:moveTo>
                  <a:pt x="0" y="0"/>
                </a:moveTo>
                <a:lnTo>
                  <a:pt x="6711298" y="0"/>
                </a:lnTo>
                <a:lnTo>
                  <a:pt x="6711298" y="5058854"/>
                </a:lnTo>
                <a:lnTo>
                  <a:pt x="0" y="5058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72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1412" y="2409492"/>
            <a:ext cx="11756372" cy="73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6"/>
              </a:lnSpc>
            </a:pPr>
            <a:r>
              <a:rPr lang="en-US" sz="4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•Mensagem Perdida e Mensagem Encontrada: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27910" y="8424658"/>
            <a:ext cx="9711258" cy="42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700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•Perdida: não chegou ao destino ou este não está no diagrama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27910" y="8860053"/>
            <a:ext cx="13472443" cy="54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1"/>
              </a:lnSpc>
            </a:pPr>
            <a:r>
              <a:rPr lang="en-US" sz="2700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•Encontrada: mensagem de remetente desconhecido ou não representado no diagrama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0093" y="4810025"/>
            <a:ext cx="3862040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Comunicação com elementos desconhecidos ou fora do diagrama.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4588" y="4614313"/>
            <a:ext cx="3184712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seta começa ou termina em um pequeno círculo preto preenchido.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35804" y="2483826"/>
            <a:ext cx="10816393" cy="3956829"/>
          </a:xfrm>
          <a:custGeom>
            <a:avLst/>
            <a:gdLst/>
            <a:ahLst/>
            <a:cxnLst/>
            <a:rect r="r" b="b" t="t" l="l"/>
            <a:pathLst>
              <a:path h="3956829" w="10816393">
                <a:moveTo>
                  <a:pt x="0" y="0"/>
                </a:moveTo>
                <a:lnTo>
                  <a:pt x="10816392" y="0"/>
                </a:lnTo>
                <a:lnTo>
                  <a:pt x="10816392" y="3956829"/>
                </a:lnTo>
                <a:lnTo>
                  <a:pt x="0" y="3956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9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89991" y="1121457"/>
            <a:ext cx="12044362" cy="6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•Portas: mesmo conceito do Diagrama de Classes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0716" y="8951262"/>
            <a:ext cx="17858022" cy="45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•O objeto poderá ter mais de uma linha de vida, cada uma representando uma porta de comunicação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51060" y="4392395"/>
            <a:ext cx="3799794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 específico de conexão/entrada em um componente complexo.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83337" y="5878719"/>
            <a:ext cx="3430808" cy="2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quadrado pequeno na borda do retângulo principal, de onde sai a linha de vida.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76810" y="3369794"/>
            <a:ext cx="10036568" cy="6190205"/>
          </a:xfrm>
          <a:custGeom>
            <a:avLst/>
            <a:gdLst/>
            <a:ahLst/>
            <a:cxnLst/>
            <a:rect r="r" b="b" t="t" l="l"/>
            <a:pathLst>
              <a:path h="6190205" w="10036568">
                <a:moveTo>
                  <a:pt x="0" y="0"/>
                </a:moveTo>
                <a:lnTo>
                  <a:pt x="10036567" y="0"/>
                </a:lnTo>
                <a:lnTo>
                  <a:pt x="10036567" y="6190205"/>
                </a:lnTo>
                <a:lnTo>
                  <a:pt x="0" y="6190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90443" y="2417526"/>
            <a:ext cx="6949976" cy="82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8"/>
              </a:lnSpc>
            </a:pPr>
            <a:r>
              <a:rPr lang="en-US" sz="47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•Fragmentos de Interação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462" y="4695707"/>
            <a:ext cx="3084765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o escopo e o nome da funcionalidade. Tudo o que está desenhado dentro desse quadro pertence a esse caso de uso específico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22019" y="3346034"/>
            <a:ext cx="3083871" cy="140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 moldura retangular que envolve todos os bonecos (atores) e caixas (objetos).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9926" y="5631891"/>
            <a:ext cx="3269762" cy="246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canto superior esquerdo, há uma pequena etiqueta (parece uma pastinha) escrita sd seguida do nome do processo (ex: "Emitir Saldo").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33576" y="1889478"/>
            <a:ext cx="12294786" cy="4804914"/>
          </a:xfrm>
          <a:custGeom>
            <a:avLst/>
            <a:gdLst/>
            <a:ahLst/>
            <a:cxnLst/>
            <a:rect r="r" b="b" t="t" l="l"/>
            <a:pathLst>
              <a:path h="4804914" w="12294786">
                <a:moveTo>
                  <a:pt x="0" y="0"/>
                </a:moveTo>
                <a:lnTo>
                  <a:pt x="12294786" y="0"/>
                </a:lnTo>
                <a:lnTo>
                  <a:pt x="12294786" y="4804915"/>
                </a:lnTo>
                <a:lnTo>
                  <a:pt x="0" y="4804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40732" y="333182"/>
            <a:ext cx="13006537" cy="99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3"/>
              </a:lnSpc>
            </a:pPr>
            <a:r>
              <a:rPr lang="en-US" sz="57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•Utilização do Fragmento de Interação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041" y="2202985"/>
            <a:ext cx="4216424" cy="434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 como um "link" ou atalho. Você não desenha o processo todo ali; você aponta para outro diagrama que já existe em outra folha (reaproveitamento de código/diagrama)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97042" y="6841859"/>
            <a:ext cx="1153112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 retângulo que atravessa as linhas de vida dos participantes envolvidos.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97042" y="7528294"/>
            <a:ext cx="404738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etiqueta no canto diz ref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7042" y="8280852"/>
            <a:ext cx="1263725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texto no centro (ex: "Emitir Saldo" ou "Realizar Saque") é o nome do diagrama que deve ser consultado.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200000" y="530773"/>
            <a:ext cx="7301972" cy="8878377"/>
          </a:xfrm>
          <a:custGeom>
            <a:avLst/>
            <a:gdLst/>
            <a:ahLst/>
            <a:cxnLst/>
            <a:rect r="r" b="b" t="t" l="l"/>
            <a:pathLst>
              <a:path h="8878377" w="7301972">
                <a:moveTo>
                  <a:pt x="0" y="0"/>
                </a:moveTo>
                <a:lnTo>
                  <a:pt x="7301972" y="0"/>
                </a:lnTo>
                <a:lnTo>
                  <a:pt x="7301972" y="8878377"/>
                </a:lnTo>
                <a:lnTo>
                  <a:pt x="0" y="8878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6307" y="316772"/>
            <a:ext cx="5601139" cy="121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6"/>
              </a:lnSpc>
            </a:pPr>
            <a:r>
              <a:rPr lang="en-US" sz="40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Fragmentos Combinados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52607" y="2079530"/>
            <a:ext cx="4417138" cy="238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  <a:spcBef>
                <a:spcPct val="0"/>
              </a:spcBef>
            </a:pPr>
            <a:r>
              <a:rPr lang="en-US" b="true" sz="227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Representa uma escolha exclusiva. O sistema analisa uma condição: se for verdadeira, segue um caminho; se for falsa, segue outro.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54479" y="4412523"/>
            <a:ext cx="3381693" cy="70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 caixa grande com a etiqueta alt no canto.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62911" y="5292778"/>
            <a:ext cx="3764829" cy="140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detalhe principal: Uma linha pontilhada horizontal que divide a caixa em duas partes (Cima e Baixo).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65201" y="6796069"/>
            <a:ext cx="3560249" cy="105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parte de cima acontece se a condição [Saldo positivo] for verdade.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14359" y="7908492"/>
            <a:ext cx="3513381" cy="105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parte de baixo acontece se a condição [Saldo negativo] for verdade.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01982" y="365029"/>
            <a:ext cx="2686686" cy="101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Alternativo (alt) – O "IF / ELSE"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143" y="3604626"/>
            <a:ext cx="5728612" cy="143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Algo que pode ou não acontecer. Se a condição for atendida, executa; se não, o sistema apenas segue em frente. Não existe "plano B" (else).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6459" y="5389487"/>
            <a:ext cx="5618295" cy="35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caixa com a etiqueta opt.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6459" y="5922242"/>
            <a:ext cx="5618295" cy="71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Diferente do alt, ela não tem divisão no meio. É um bloco único.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143" y="6627403"/>
            <a:ext cx="5838928" cy="71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condição [Se for a única conta] determina se o que está dentro da caixa vai rodar.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54479" y="1479839"/>
            <a:ext cx="3221570" cy="71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caixa grande dividida ao meio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5969" y="1685807"/>
            <a:ext cx="4939277" cy="101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(parte inferior): Opcional (opt) – O "IF sozinho"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5648" y="2895867"/>
            <a:ext cx="5504036" cy="34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caixa menor na parte de baixo do diagrama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Diagrama de Seqüência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56756" y="2385234"/>
            <a:ext cx="6192843" cy="78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45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•Tipos de Fragmentos: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2003" y="3951114"/>
            <a:ext cx="3635145" cy="408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–REF </a:t>
            </a:r>
          </a:p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–OPT </a:t>
            </a:r>
          </a:p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–ALT</a:t>
            </a:r>
          </a:p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–PAR</a:t>
            </a:r>
          </a:p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–BREAK </a:t>
            </a:r>
          </a:p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–ASSERTION</a:t>
            </a:r>
          </a:p>
          <a:p>
            <a:pPr algn="just">
              <a:lnSpc>
                <a:spcPts val="4074"/>
              </a:lnSpc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–IGNORE </a:t>
            </a:r>
          </a:p>
          <a:p>
            <a:pPr algn="just">
              <a:lnSpc>
                <a:spcPts val="407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454389" y="3951114"/>
            <a:ext cx="4842346" cy="2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–CONSIDER </a:t>
            </a:r>
          </a:p>
          <a:p>
            <a:pPr algn="l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–SEQ </a:t>
            </a:r>
          </a:p>
          <a:p>
            <a:pPr algn="l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STRICT </a:t>
            </a:r>
          </a:p>
          <a:p>
            <a:pPr algn="l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–CRITICAL REGION – LOOP </a:t>
            </a:r>
          </a:p>
          <a:p>
            <a:pPr algn="l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–NEG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31078" y="-127304"/>
            <a:ext cx="10091832" cy="10541608"/>
          </a:xfrm>
          <a:custGeom>
            <a:avLst/>
            <a:gdLst/>
            <a:ahLst/>
            <a:cxnLst/>
            <a:rect r="r" b="b" t="t" l="l"/>
            <a:pathLst>
              <a:path h="10541608" w="10091832">
                <a:moveTo>
                  <a:pt x="0" y="0"/>
                </a:moveTo>
                <a:lnTo>
                  <a:pt x="10091833" y="0"/>
                </a:lnTo>
                <a:lnTo>
                  <a:pt x="10091833" y="10541608"/>
                </a:lnTo>
                <a:lnTo>
                  <a:pt x="0" y="10541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2238" y="1959596"/>
            <a:ext cx="1952476" cy="3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Fragmento Loop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4377" y="2454942"/>
            <a:ext cx="341348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Repetição (loop) – O "FOR / WHILE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6758" y="3484278"/>
            <a:ext cx="3791920" cy="153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caixa envolvendo uma sequência de mensagens.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590" y="5319935"/>
            <a:ext cx="4374778" cy="3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b="true" sz="28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Uma estrutura de repetição. As ações dentro desse bloco vão acontecer várias vezes seguidas enquanto a condição for válida.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22911" y="596592"/>
            <a:ext cx="3453709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caixa envolvendo uma parte do diagrama com a etiqueta loop.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84861" y="2986031"/>
            <a:ext cx="2809048" cy="3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abaixo da etiqueta, entre colchetes, está a regra da repetição: [Para cada produto].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22856" y="6598415"/>
            <a:ext cx="3653764" cy="204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setas lá dentro (Consultar quantidade, etc.) são as ações que se repetem.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Exercício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93136" y="2420420"/>
            <a:ext cx="10998138" cy="170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676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•Fazer os Diagramas de Seqüência para o SUAP, tomando como base os Diagramas de Caso de Uso e Classes já feitos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136" y="4053657"/>
            <a:ext cx="10580347" cy="74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sz="3676" spc="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•Representar nos diagramas os atores, classes,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4140" y="4948232"/>
            <a:ext cx="10703293" cy="155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3676" spc="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mensagens (comunicação, chamada de métodos, </a:t>
            </a:r>
          </a:p>
          <a:p>
            <a:pPr algn="l">
              <a:lnSpc>
                <a:spcPts val="6179"/>
              </a:lnSpc>
            </a:pPr>
            <a:r>
              <a:rPr lang="en-US" sz="3676" spc="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de objetos, destruição de objetos e </a:t>
            </a:r>
          </a:p>
          <a:p>
            <a:pPr algn="l">
              <a:lnSpc>
                <a:spcPts val="2650"/>
              </a:lnSpc>
            </a:pPr>
            <a:r>
              <a:rPr lang="en-US" sz="36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FRAGMENTOS(REF, ALT, OPT, SEQ, LOOP...)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3136" y="6139732"/>
            <a:ext cx="10574687" cy="91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1"/>
              </a:lnSpc>
            </a:pPr>
            <a:r>
              <a:rPr lang="en-US" sz="3676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•Os diagramas devem ter o passo a passo mais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44140" y="7281957"/>
            <a:ext cx="10731909" cy="145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8"/>
              </a:lnSpc>
            </a:pPr>
            <a:r>
              <a:rPr lang="en-US" sz="3676" spc="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detalhado possível, baseando-se nos formulários </a:t>
            </a:r>
          </a:p>
          <a:p>
            <a:pPr algn="l">
              <a:lnSpc>
                <a:spcPts val="6999"/>
              </a:lnSpc>
            </a:pPr>
            <a:r>
              <a:rPr lang="en-US" sz="3676" spc="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detalhamento de caso de uso feitos durante as </a:t>
            </a:r>
          </a:p>
          <a:p>
            <a:pPr algn="l">
              <a:lnSpc>
                <a:spcPts val="1838"/>
              </a:lnSpc>
            </a:pPr>
            <a:r>
              <a:rPr lang="en-US" sz="3676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entrevistas com os servidores do IFRN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3136" y="9077595"/>
            <a:ext cx="8785173" cy="33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8"/>
              </a:lnSpc>
            </a:pPr>
            <a:r>
              <a:rPr lang="en-US" sz="3676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•Salvar tudo no MESMO projeto ASTAH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Exercício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7385" y="2674797"/>
            <a:ext cx="15583809" cy="631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Portal do Aluno SENAI (Gestão Acadêmica)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opção é mais próxima do exemplo original (SUAP), mas com a "cara" do SENAI.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Enunciado do Exercício: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Exercício: Diagrama de Sequência - Portal "Meu SENAI"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 Fazer os Diagramas de Sequência para o módulo de acompanhamento de curso no aplicativo "Meu SENAI".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Base: Tomar como base os requisitos levantados na aula anterior.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de Uso Principal para Detalhar: "Consultar Situação de Aprendizagem" (Notas/Frequência).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do Diagrama: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Representação: Incluir Atores (Aluno, Docente), Classes de Fronteira (Tela de Login, Tela de Notas), Controladores e Entidades (Banco de Dados).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Detalhamento: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 de Objeto: O sistema gerando o Boletim dinamicamente na tela.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Destruição de Objeto: Fechar a sessão segura ao sair.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Fragmentos Obrigatórios: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REF: Referenciar o diagrama de "Realizar Login" no início do processo. * ALT: Exibir mensagem "Aprovado" (se média &gt;= 70) ou "Recuperação" (se média &lt; 70).</a:t>
            </a:r>
          </a:p>
          <a:p>
            <a:pPr algn="l" marL="441668" indent="-220834" lvl="1">
              <a:lnSpc>
                <a:spcPts val="2939"/>
              </a:lnSpc>
              <a:buFont typeface="Arial"/>
              <a:buChar char="•"/>
            </a:pPr>
            <a:r>
              <a:rPr lang="en-US" sz="20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LOOP: Carregar a lista de Unidades Curriculares do semestre. 5. Ferramenta: Salvar tudo no MESMO projeto ASTAH.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1408"/>
            <a:ext cx="18288000" cy="1428750"/>
            <a:chOff x="0" y="0"/>
            <a:chExt cx="4816593" cy="376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76296"/>
            </a:xfrm>
            <a:custGeom>
              <a:avLst/>
              <a:gdLst/>
              <a:ahLst/>
              <a:cxnLst/>
              <a:rect r="r" b="b" t="t" l="l"/>
              <a:pathLst>
                <a:path h="376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3743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28600"/>
              <a:ext cx="4816593" cy="60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3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Referências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91936" y="2350158"/>
            <a:ext cx="5041064" cy="7209767"/>
          </a:xfrm>
          <a:custGeom>
            <a:avLst/>
            <a:gdLst/>
            <a:ahLst/>
            <a:cxnLst/>
            <a:rect r="r" b="b" t="t" l="l"/>
            <a:pathLst>
              <a:path h="7209767" w="5041064">
                <a:moveTo>
                  <a:pt x="0" y="0"/>
                </a:moveTo>
                <a:lnTo>
                  <a:pt x="5041065" y="0"/>
                </a:lnTo>
                <a:lnTo>
                  <a:pt x="5041065" y="7209767"/>
                </a:lnTo>
                <a:lnTo>
                  <a:pt x="0" y="7209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73151" y="4160673"/>
            <a:ext cx="7367445" cy="75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9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•UML2: Uma Abordagem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97938" y="4906446"/>
            <a:ext cx="6550676" cy="224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9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 3ª Ed. 2018 Gilleanes T. A. Guedes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46"/>
            <a:ext cx="18285112" cy="10282805"/>
            <a:chOff x="0" y="0"/>
            <a:chExt cx="24380150" cy="13710407"/>
          </a:xfrm>
        </p:grpSpPr>
        <p:sp>
          <p:nvSpPr>
            <p:cNvPr name="Freeform 3" id="3" descr="Interface gráfica do usuário, Site  Descrição gerada automaticamente"/>
            <p:cNvSpPr/>
            <p:nvPr/>
          </p:nvSpPr>
          <p:spPr>
            <a:xfrm flipH="false" flipV="false" rot="0">
              <a:off x="0" y="0"/>
              <a:ext cx="24380150" cy="13710407"/>
            </a:xfrm>
            <a:custGeom>
              <a:avLst/>
              <a:gdLst/>
              <a:ahLst/>
              <a:cxnLst/>
              <a:rect r="r" b="b" t="t" l="l"/>
              <a:pathLst>
                <a:path h="13710407" w="24380150">
                  <a:moveTo>
                    <a:pt x="0" y="0"/>
                  </a:moveTo>
                  <a:lnTo>
                    <a:pt x="24380150" y="0"/>
                  </a:lnTo>
                  <a:lnTo>
                    <a:pt x="24380150" y="13710407"/>
                  </a:lnTo>
                  <a:lnTo>
                    <a:pt x="0" y="1371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9138358" y="5002844"/>
              <a:ext cx="6103434" cy="2869580"/>
              <a:chOff x="0" y="0"/>
              <a:chExt cx="1205617" cy="56683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05617" cy="566831"/>
              </a:xfrm>
              <a:custGeom>
                <a:avLst/>
                <a:gdLst/>
                <a:ahLst/>
                <a:cxnLst/>
                <a:rect r="r" b="b" t="t" l="l"/>
                <a:pathLst>
                  <a:path h="566831" w="1205617">
                    <a:moveTo>
                      <a:pt x="0" y="0"/>
                    </a:moveTo>
                    <a:lnTo>
                      <a:pt x="1205617" y="0"/>
                    </a:lnTo>
                    <a:lnTo>
                      <a:pt x="1205617" y="566831"/>
                    </a:lnTo>
                    <a:lnTo>
                      <a:pt x="0" y="566831"/>
                    </a:lnTo>
                    <a:close/>
                  </a:path>
                </a:pathLst>
              </a:custGeom>
              <a:solidFill>
                <a:srgbClr val="37435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205617" cy="6049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0704258" y="5337431"/>
              <a:ext cx="2975483" cy="792222"/>
            </a:xfrm>
            <a:custGeom>
              <a:avLst/>
              <a:gdLst/>
              <a:ahLst/>
              <a:cxnLst/>
              <a:rect r="r" b="b" t="t" l="l"/>
              <a:pathLst>
                <a:path h="792222" w="2975483">
                  <a:moveTo>
                    <a:pt x="0" y="0"/>
                  </a:moveTo>
                  <a:lnTo>
                    <a:pt x="2975484" y="0"/>
                  </a:lnTo>
                  <a:lnTo>
                    <a:pt x="2975484" y="792223"/>
                  </a:lnTo>
                  <a:lnTo>
                    <a:pt x="0" y="79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DAG6kO-sjf8</dc:identifier>
  <dcterms:modified xsi:type="dcterms:W3CDTF">2011-08-01T06:04:30Z</dcterms:modified>
  <cp:revision>1</cp:revision>
  <dc:title>Diagrama de Sequencia</dc:title>
</cp:coreProperties>
</file>