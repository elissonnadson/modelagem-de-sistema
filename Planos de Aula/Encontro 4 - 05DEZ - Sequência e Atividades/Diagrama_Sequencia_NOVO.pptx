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Modelagem de Sistemas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UML: Diagrama de Sequência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 que é o Diagrama de Sequência?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É um diagrama COMPORTAMENTAL da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Mostra a ORDEM (sequência) das interações entre objetos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Representa eventos e mensagens ao longo do TEMPO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Baseado no Diagrama de Casos de Uso e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Normalmente: 1 Diagrama de Sequência para CADA Caso de Uso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19"/>
            <a:ext cx="8229600" cy="64008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5195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📌 Foco: COMO os objetos conversam entre si, passo a passo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Elementos Básicos do Diagrama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ATOR: Quem inicia a interação (pessoa, sistema externo)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OBJETO: Instância de uma classe (ex: :Pedido, :Cliente)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LINHA DE VIDA: Linha tracejada vertical (existência do objeto)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MENSAGEM: Seta horizontal (comunicação entre objetos)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ATIVAÇÃO: Retângulo fino (objeto processando)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19"/>
            <a:ext cx="8229600" cy="64008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5195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⏰ O tempo flui de CIMA para BAIXO no diagrama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Elemento: OBJETO (Lifeline)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O objeto é representado por um RETÂNGULO no topo do diagrama. Dentro dele: nome_da_instância : NomeDaClasse. Exemplo: pedido1 : Pedido ou apenas :Pedido (anônimo)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Pense em uma PESSOA em uma reunião. O retângulo é o 'crachá' dela com o nome. A linha abaixo mostra que ela está presente na reunião.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É como uma VARIÁVEL no código: Pedido pedido1 = new Pedido(); O retângulo representa essa variável 'viva' na memória.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um OBJETO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📦 Retângulo com texto sublinhado: nomeobjeto : Classe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Desenhe um RETÂNGULO no topo do diagrama</a:t>
            </a:r>
            <a:br/>
            <a:r>
              <a:t>2. Dentro, escreva: nome : Classe (ex: car1 : Carrinho)</a:t>
            </a:r>
            <a:br/>
            <a:r>
              <a:t>3. O nome pode ser omitido: apenas :Classe</a:t>
            </a:r>
            <a:br/>
            <a:r>
              <a:t>4. O texto deve ser SUBLINHADO (indica instância)</a:t>
            </a:r>
            <a:br/>
            <a:r>
              <a:t>5. Abaixo, sai uma LINHA TRACEJADA vertical (linha de vida)</a:t>
            </a:r>
            <a:br/>
            <a:br/>
            <a:r>
              <a:t>Exemplos válidos:</a:t>
            </a:r>
            <a:br/>
            <a:r>
              <a:t>• pesfis1 : Pessoa_Fisica</a:t>
            </a:r>
            <a:br/>
            <a:r>
              <a:t>• :Pedido (objeto anônimo)</a:t>
            </a:r>
            <a:br/>
            <a:r>
              <a:t>• comum1 : Conta_Comum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Elemento: 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O ator é representado pelo 'boneco palito' (stickman). É quem INICIA a interação com o sistema. Pode ser uma pessoa, outro sistema, ou dispositivo externo.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É como o CLIENTE que chega no restaurante e faz o pedido. Ele dispara a ação, mas a cozinha (sistema) faz o trabalho.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É quem clica no botão, envia requisição HTTP, ou dispara um evento. O ator NÃO faz parte do código, mas INTERAGE com ele.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Elemento: LINHA DE VIDA (Lifeline)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Linha vertical TRACEJADA que desce do objeto. Representa o TEMPO de existência do objeto durante a interação. Pode ser interrompida por um X quando o objeto é destruído.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Como a 'duração' de uma ligação telefônica. Enquanto a linha existe, a pessoa está na chamada. Quando a linha termina, a chamada acabou.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Enquanto a linha existe, o objeto está na MEMÓRIA. É como o escopo de uma variável - existe enquanto o método/bloco está executando.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Elemento: MENSAGEM (Chamada de Método)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Seta HORIZONTAL que vai de uma linha de vida para outra. Representa uma COMUNICAÇÃO: chamada de método, envio de dados, ou ação. O nome da mensagem fica sobre a seta.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Cliente → Garçom: 'Por favor, um café'. Essa frase é a MENSAGEM. O garçom recebe e processa.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É como chamar uma FUNÇÃO: objeto.metodo(). A seta mostra QUEM chama e QUEM recebe. Ex: sistema.validar(cpf)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Mensagem entre ATORES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Quando dois ATORES se comunicam, a seta é SÓLIDA conectando suas linhas de vida. NÃO é chamada de método - é comunicação de alto nível (fala, clique, gesto).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Cliente → Funcionário: 'Quero abrir uma conta'. Exemplo 2: Paciente → Recepcionista: 'Preciso marcar consulta'.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Usuário → Administrador: 'Reset minha senha'. Exemplo 2: Cliente → Suporte: 'Sistema travou'. É comunicação FORA do código.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Mensagem entre OBJETOS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Seta SÓLIDA (cheia) de uma linha de vida para outra. Representa chamada de MÉTODO. O texto é o nome do método com parâmetros: metodo(param).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Caixa → Calculadora: somar(10, 5). Exemplo 2: Atendente → Estoque: verificar('Pastel').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controlador.validarCPF('123'). Exemplo 2: bd.consultar(SELECT * FROM users). É código chamando código!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CRIAÇÃO de Objeto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Quando um objeto cria OUTRO objeto durante a execução. A seta aponta para o RETÂNGULO do novo objeto (não para a linha). O novo objeto aparece mais abaixo no diagrama.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Garçom cria uma COMANDA quando cliente faz pedido. Exemplo 2: Caixa cria NOTA FISCAL quando fecha a venda.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Pedido p = new Pedido(). Exemplo 2: Item item = new Item_Pedido(). É o 'new' criando instância!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CRIAÇÃO de Objeto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📦 Seta aponta para o RETÂNGULO do novo objeto (não para linha)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O novo objeto NÃO aparece no topo (não existe ainda)</a:t>
            </a:r>
            <a:br/>
            <a:r>
              <a:t>2. Desenhe a seta com &lt;&lt;create&gt;&gt; ou nome do construtor</a:t>
            </a:r>
            <a:br/>
            <a:r>
              <a:t>3. A seta aponta DIRETAMENTE para o retângulo do objeto</a:t>
            </a:r>
            <a:br/>
            <a:r>
              <a:t>4. O objeto é desenhado mais ABAIXO, onde é criado</a:t>
            </a:r>
            <a:br/>
            <a:r>
              <a:t>5. A partir daí, sua linha de vida começa</a:t>
            </a:r>
            <a:br/>
            <a:br/>
            <a:r>
              <a:t>Notação da seta: ─────────────&gt; □ :NovoObjeto</a:t>
            </a:r>
            <a:br/>
            <a:r>
              <a:t>                  new() ou &lt;&lt;create&gt;&gt;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DESTRUIÇÃO de Objeto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Quando um objeto deixa de existir. A linha de vida termina com um X grande. Representa remoção da memória ou fim do escopo.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Você TERMINA uma ligação telefônica (☎️→ X). Exemplo 2: Restaurante ENCERRA a mesa após pagamento.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objeto = null (garbage collection). Exemplo 2: conexao.close(). Exemplo: session.invalidate() no logout.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DESTRUIÇÃO de Objeto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❌ Um X grande no final da linha de vida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Desenhe uma seta com &lt;&lt;destroy&gt;&gt; ou método de exclusão</a:t>
            </a:r>
            <a:br/>
            <a:r>
              <a:t>2. No final da linha de vida do objeto destruído: X</a:t>
            </a:r>
            <a:br/>
            <a:r>
              <a:t>3. A linha de vida NÃO continua após o X</a:t>
            </a:r>
            <a:br/>
            <a:r>
              <a:t>4. Significa que o objeto saiu da memória</a:t>
            </a:r>
            <a:br/>
            <a:br/>
            <a:r>
              <a:t>Representação:</a:t>
            </a:r>
            <a:br/>
            <a:r>
              <a:t>    :Objeto</a:t>
            </a:r>
            <a:br/>
            <a:r>
              <a:t>       │</a:t>
            </a:r>
            <a:br/>
            <a:r>
              <a:t>       │  ←── excluir()</a:t>
            </a:r>
            <a:br/>
            <a:r>
              <a:t>       X (fim da existência)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MENSAGEM de Retorno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Seta TRACEJADA (pontilhada) que volta para quem chamou. Representa a RESPOSTA após processar um método. Pode incluir o valor retornado.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Garçom → Cliente: 'Seu pedido está pronto' (resposta). Exemplo 2: Porteiro → Morador: 'Sua encomenda chegou'.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return true; Exemplo 2: return cliente.getNome(); A seta mostra O QUE volta: dados, confirmação, erro.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MENSAGEM de Retorno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◀- - - - - Seta TRACEJADA apontando de volta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Use linha TRACEJADA (- - - - -)</a:t>
            </a:r>
            <a:br/>
            <a:r>
              <a:t>2. Seta aponta para QUEM fez a chamada original</a:t>
            </a:r>
            <a:br/>
            <a:r>
              <a:t>3. Texto opcional: nome_retorno : tipo</a:t>
            </a:r>
            <a:br/>
            <a:r>
              <a:t>4. Pode ser IMPLÍCITO (não obrigatório desenhar)</a:t>
            </a:r>
            <a:br/>
            <a:br/>
            <a:r>
              <a:t>Exemplo completo:</a:t>
            </a:r>
            <a:br/>
            <a:r>
              <a:t>    :Sistema ──────────────&gt; :BD</a:t>
            </a:r>
            <a:br/>
            <a:r>
              <a:t>              consultar()</a:t>
            </a:r>
            <a:br/>
            <a:r>
              <a:t>    :Sistema &lt;─ ─ ─ ─ ─ ─ ─  :BD</a:t>
            </a:r>
            <a:br/>
            <a:r>
              <a:t>              dados : String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AUTOCHAMADA (Self-Call)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Quando um objeto chama um método DELE MESMO. A seta SAI da linha de vida e VOLTA para a mesma linha, fazendo uma curva.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Você faz um 'checklist mental' antes de sair de casa. Exemplo 2: Calculadora 'confere' o resultado antes de mostrar.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this.validarDados(). Exemplo 2: self.calcularTotal(). É quando o objeto processa algo internamente.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AUTOCHAMADA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↩️ Seta que sai e volta para a MESMA linha de vida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A seta SAI do retângulo de ativação</a:t>
            </a:r>
            <a:br/>
            <a:r>
              <a:t>2. Faz uma CURVA para a direita</a:t>
            </a:r>
            <a:br/>
            <a:r>
              <a:t>3. VOLTA para o mesmo objeto</a:t>
            </a:r>
            <a:br/>
            <a:r>
              <a:t>4. Cria um retângulo de ativação SOBREPOSTO</a:t>
            </a:r>
            <a:br/>
            <a:br/>
            <a:r>
              <a:t>    :Objeto</a:t>
            </a:r>
            <a:br/>
            <a:r>
              <a:t>       ┌─┐</a:t>
            </a:r>
            <a:br/>
            <a:r>
              <a:t>       │ │──┐ metodoInterno()</a:t>
            </a:r>
            <a:br/>
            <a:r>
              <a:t>       │ │  │</a:t>
            </a:r>
            <a:br/>
            <a:r>
              <a:t>       │ │──┘</a:t>
            </a:r>
            <a:br/>
            <a:r>
              <a:t>       │ │</a:t>
            </a:r>
            <a:br/>
            <a:r>
              <a:t>       └─┘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RESTRIÇÕES de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Quando uma ação DEMORA ou tem PRAZO definido. A seta é desenhada na DIAGONAL (inclinada), indicando passagem de tempo. Pode ter nota com o tempo.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'Aguarde 30 minutos para a pizza ficar pronta'. Exemplo 2: 'Seu pedido será cancelado em 15 min se não confirmar'.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Thread.sleep(5000) - espera 5 segundos. Exemplo 2: setTimeout() em JavaScript. Exemplo: API com timeout de 30s.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RESTRIÇÕES de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⏱️ Seta DIAGONAL + nota com tempo entre chaves {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Desenhe a seta em DIAGONAL (inclinada para baixo)</a:t>
            </a:r>
            <a:br/>
            <a:r>
              <a:t>2. Adicione nota: {tempo de espera}</a:t>
            </a:r>
            <a:br/>
            <a:r>
              <a:t>3. A inclinação mostra que TEMPO passou</a:t>
            </a:r>
            <a:br/>
            <a:br/>
            <a:r>
              <a:t>    :Sistema                :Pedido</a:t>
            </a:r>
            <a:br/>
            <a:r>
              <a:t>       │                       │</a:t>
            </a:r>
            <a:br/>
            <a:r>
              <a:t>       │\                      │</a:t>
            </a:r>
            <a:br/>
            <a:r>
              <a:t>       │ \ cancelar()         │</a:t>
            </a:r>
            <a:br/>
            <a:r>
              <a:t>       │  \ {30 min de espera}│</a:t>
            </a:r>
            <a:br/>
            <a:r>
              <a:t>       │   \________________&gt; X</a:t>
            </a:r>
            <a:br/>
            <a:br/>
            <a:r>
              <a:t>O pedido só é cancelado APÓS 30 minutos.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FRAGMENTOS de Interação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São 'caixas' que agrupam partes do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Definem comportamentos especiais: condição, repetição,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Etiqueta no canto superior esquerdo indica o 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Principais tipos: ref, opt, alt, loop, 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Funcionam como estruturas de controle do código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19"/>
            <a:ext cx="8229600" cy="64008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5195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📦 Pense como: IF, ELSE, FOR, WHILE... mas visual!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Fragmento: REF (Referência)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Um 'LINK' para outro diagrama. Evita repetir desenhos. O retângulo atravessa as linhas de vida envolvidas. Texto central = nome do diagrama referenciado.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Manual de instruções que diz 'Veja página 45'. Exemplo 2: Receita que diz 'Para o molho, veja receita X'.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Chamar função de outro arquivo: import login; login.autenticar(). Exemplo 2: Módulo separado que é reutilizado.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Fragmento: OPT (Opcional)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É o 'IF sozinho' - sem ELSE. A caixa só executa SE a condição for verdadeira. Se falsa, pula e continua. Condição entre colchetes [condição].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'SE estiver chovendo, leve guarda-chuva'. Exemplo 2: 'SE cliente for VIP, dar desconto'.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if (usuario.isPremium()) { darBrinde(); }. Exemplo 2: if (carrinho.valor &gt; 100) { freteGratis();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Fragmento: ALT (Alternativo)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É o 'IF / ELSE'. Caixa dividida ao meio por linha tracejada. Parte de cima: condição verdadeira. Parte de baixo: condição falsa (else).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'SE aprovado, comemorar. SENÃO, estudar mais'. Exemplo 2: 'SE tem saldo, comprar. SENÃO, pedir empréstimo'.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if (senha.valida()) { login(); } else { erroSenha(); }. Só UM caminho executa!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Fragmento: LOOP (Repetição)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É o 'FOR / WHILE'. As ações dentro da caixa se REPETEM enquanto condição válida. Condição entre colchetes. Etiqueta 'loop' no canto.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1: 'PARA CADA item do carrinho, calcular preço'. Exemplo 2: 'ENQUANTO tiver fome, comer mais um pastel'.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for (Item i : carrinho) { total += i.preco; }. Ou: while (fila.hasNext()) { processar();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64008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Como Desenhar FRAGMENTOS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📦 Retângulo com etiqueta (aba) no canto superior esquerdo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B8D0"/>
                </a:solidFill>
              </a:defRPr>
            </a:pPr>
            <a:r>
              <a:t>📐 Como Representar: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86000"/>
            <a:ext cx="8595360" cy="18288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Desenhe um RETÂNGULO envolvendo as mensagens</a:t>
            </a:r>
            <a:br/>
            <a:r>
              <a:t>2. No canto superior esquerdo: 'aba' com tipo (opt, alt, loop)</a:t>
            </a:r>
            <a:br/>
            <a:r>
              <a:t>3. Abaixo da aba: [condição] entre colchetes</a:t>
            </a:r>
            <a:br/>
            <a:r>
              <a:t>4. Para ALT: linha tracejada horizontal divide as opções</a:t>
            </a:r>
            <a:br/>
            <a:br/>
            <a:r>
              <a:t>    ┌─ opt ────────────────────────┐</a:t>
            </a:r>
            <a:br/>
            <a:r>
              <a:t>    │ [se cliente VIP]             │</a:t>
            </a:r>
            <a:br/>
            <a:r>
              <a:t>    │   :Sistema ──&gt; :Desconto     │</a:t>
            </a:r>
            <a:br/>
            <a:r>
              <a:t>    │              aplicar()       │</a:t>
            </a:r>
            <a:br/>
            <a:r>
              <a:t>    └──────────────────────────────┘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9144000" cy="73152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Mensagem PERDIDA e ENCONTRADA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PERDIDA: não chegou ao destino (destino fora do diagrama). ENCONTRADA: veio de origem desconhecida. Representadas com círculo preto no início/fim.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B8D0"/>
                </a:solidFill>
              </a:defRPr>
            </a:pPr>
            <a:r>
              <a:t>🏠 Exemplo do Dia a Dia: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8B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Exemplo PERDIDA: Você envia email mas não sabe se chegou. Exemplo ENCONTRADA: Recebe notificação sem saber quem enviou.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8D44D"/>
                </a:solidFill>
              </a:defRPr>
            </a:pPr>
            <a:r>
              <a:t>💻 Exemplo do Programador: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560320"/>
            <a:ext cx="4114800" cy="1371600"/>
          </a:xfrm>
          <a:prstGeom prst="roundRect">
            <a:avLst/>
          </a:prstGeom>
          <a:solidFill>
            <a:srgbClr val="2A3A4A"/>
          </a:solidFill>
          <a:ln>
            <a:solidFill>
              <a:srgbClr val="E8D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PERDIDA: API externa que não responde. ENCONTRADA: Webhook recebido de serviço externo não modelado.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Resumo: Elementos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RETÂNGULO sublinhado = Objeto (:Classe)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BONECO PALITO = Ator (usuário/sistema externo)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LINHA TRACEJADA vertical = Linha de 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SETA SÓLIDA horizontal = Mensagem/Chamada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SETA TRACEJADA = Retorno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RETÂNGULO fino = Ativação (processando)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X = Destruição do objeto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CAIXA com aba = Fragmento (opt, alt, loop, ref)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4A7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Dicas para Fazer Bons Diagramas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Comece pelo ATOR que inicia a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Tempo flui de CIMA para BAIXO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Use nomes de MÉTODOS reais (verbo + substantivo)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Não esqueça dos RETORNOS importantes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Use FRAGMENTOS para condições e loops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Mantenha o diagrama SIMPLES e legível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Um diagrama por CASO DE USO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66359"/>
            <a:ext cx="8229600" cy="64008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799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🎯 Objetivo: Qualquer desenvolvedor deve entender o fluxo!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Pratique!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solidFill>
            <a:srgbClr val="E8D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Agora é sua vez de criar diagramas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